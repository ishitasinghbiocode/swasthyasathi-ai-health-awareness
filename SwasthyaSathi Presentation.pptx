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Times New Roman" panose="02020603050405020304" pitchFamily="18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  <p:embeddedFont>
      <p:font typeface="Times New Roman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vermillion-kitsune-8dfa91.netlify.app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17320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4014476" y="5034121"/>
            <a:ext cx="1030161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4014476" y="6820218"/>
            <a:ext cx="1030161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4014476" y="1630767"/>
            <a:ext cx="13244824" cy="297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SwasthyaSathi AI: A Proposed AI-Assisted Platform for Health Awareness and Misinformation Literacy in India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14476" y="5234146"/>
            <a:ext cx="1288321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Knowledge Beyond the Search Bar: How Artificial Intelligence Can Support Health Awareness, Counter Misinformation and Promote Community Well-Being in India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14476" y="7023100"/>
            <a:ext cx="10825519" cy="169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9" lvl="1" indent="-345444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Theme: Health, Culture and Community Well-Being</a:t>
            </a:r>
          </a:p>
          <a:p>
            <a:pPr marL="690889" lvl="1" indent="-345444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Ishita Singh</a:t>
            </a:r>
          </a:p>
          <a:p>
            <a:pPr marL="690889" lvl="1" indent="-345444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Programme: B.Tech Bioinformatics, ITCPS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14476" y="964017"/>
            <a:ext cx="349390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Viksit Bharat @2047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6159" y="3285976"/>
            <a:ext cx="11871841" cy="7001024"/>
            <a:chOff x="0" y="0"/>
            <a:chExt cx="3126740" cy="18438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6740" cy="1843891"/>
            </a:xfrm>
            <a:custGeom>
              <a:avLst/>
              <a:gdLst/>
              <a:ahLst/>
              <a:cxnLst/>
              <a:rect l="l" t="t" r="r" b="b"/>
              <a:pathLst>
                <a:path w="3126740" h="1843891">
                  <a:moveTo>
                    <a:pt x="0" y="0"/>
                  </a:moveTo>
                  <a:lnTo>
                    <a:pt x="3126740" y="0"/>
                  </a:lnTo>
                  <a:lnTo>
                    <a:pt x="3126740" y="1843891"/>
                  </a:lnTo>
                  <a:lnTo>
                    <a:pt x="0" y="1843891"/>
                  </a:lnTo>
                  <a:close/>
                </a:path>
              </a:pathLst>
            </a:custGeom>
            <a:solidFill>
              <a:srgbClr val="17320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126740" cy="1881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3558892" y="3187700"/>
            <a:ext cx="6240564" cy="6240564"/>
          </a:xfrm>
          <a:custGeom>
            <a:avLst/>
            <a:gdLst/>
            <a:ahLst/>
            <a:cxnLst/>
            <a:rect l="l" t="t" r="r" b="b"/>
            <a:pathLst>
              <a:path w="6240564" h="6240564">
                <a:moveTo>
                  <a:pt x="0" y="0"/>
                </a:moveTo>
                <a:lnTo>
                  <a:pt x="6240564" y="0"/>
                </a:lnTo>
                <a:lnTo>
                  <a:pt x="6240564" y="6240564"/>
                </a:lnTo>
                <a:lnTo>
                  <a:pt x="0" y="6240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14476" y="1419444"/>
            <a:ext cx="12470104" cy="14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99456" y="3130550"/>
            <a:ext cx="6921234" cy="612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platforms have transformed how people access health information. Search engines, social media and messaging applications make health-related content widely available. However, the reliability, clarity and accuracy of this information can vary.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SwasthyaSathi AI is an idea that explores how an AI-assisted digital platform could help users navigate understandable health information, access credible sources and critically evaluate online health claims.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presents a proposed concept supported by a preliminary website prototype.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242288" y="4089377"/>
            <a:ext cx="6302970" cy="5090350"/>
          </a:xfrm>
          <a:custGeom>
            <a:avLst/>
            <a:gdLst/>
            <a:ahLst/>
            <a:cxnLst/>
            <a:rect l="l" t="t" r="r" b="b"/>
            <a:pathLst>
              <a:path w="6302970" h="5090350">
                <a:moveTo>
                  <a:pt x="0" y="0"/>
                </a:moveTo>
                <a:lnTo>
                  <a:pt x="6302969" y="0"/>
                </a:lnTo>
                <a:lnTo>
                  <a:pt x="6302969" y="5090350"/>
                </a:lnTo>
                <a:lnTo>
                  <a:pt x="0" y="5090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24" r="-5001" b="-399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14476" y="1419444"/>
            <a:ext cx="11061562" cy="14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85606" y="4022702"/>
            <a:ext cx="6842275" cy="5547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75"/>
              </a:lnSpc>
            </a:pPr>
            <a:r>
              <a:rPr lang="en-US" sz="28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Information in the Digital Age</a:t>
            </a:r>
          </a:p>
          <a:p>
            <a:pPr marL="613129" lvl="1" indent="-306565" algn="just">
              <a:lnSpc>
                <a:spcPts val="3975"/>
              </a:lnSpc>
              <a:buFont typeface="Arial"/>
              <a:buChar char="•"/>
            </a:pPr>
            <a:r>
              <a:rPr lang="en-US" sz="28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dependence on online platforms for health information.</a:t>
            </a:r>
          </a:p>
          <a:p>
            <a:pPr marL="613129" lvl="1" indent="-306565" algn="just">
              <a:lnSpc>
                <a:spcPts val="3975"/>
              </a:lnSpc>
              <a:buFont typeface="Arial"/>
              <a:buChar char="•"/>
            </a:pPr>
            <a:r>
              <a:rPr lang="en-US" sz="28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circulation of misleading health claims and unverified remedies.</a:t>
            </a:r>
          </a:p>
          <a:p>
            <a:pPr marL="613129" lvl="1" indent="-306565" algn="just">
              <a:lnSpc>
                <a:spcPts val="3975"/>
              </a:lnSpc>
              <a:buFont typeface="Arial"/>
              <a:buChar char="•"/>
            </a:pPr>
            <a:r>
              <a:rPr lang="en-US" sz="28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medical language creates barriers to understanding.</a:t>
            </a:r>
          </a:p>
          <a:p>
            <a:pPr marL="613129" lvl="1" indent="-306565" algn="just">
              <a:lnSpc>
                <a:spcPts val="3975"/>
              </a:lnSpc>
              <a:buFont typeface="Arial"/>
              <a:buChar char="•"/>
            </a:pPr>
            <a:r>
              <a:rPr lang="en-US" sz="28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and digital-literacy gaps affect access to reliable information.</a:t>
            </a:r>
          </a:p>
          <a:p>
            <a:pPr marL="613129" lvl="1" indent="-306565" algn="just">
              <a:lnSpc>
                <a:spcPts val="3975"/>
              </a:lnSpc>
              <a:buFont typeface="Arial"/>
              <a:buChar char="•"/>
            </a:pPr>
            <a:r>
              <a:rPr lang="en-US" sz="28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accessible, trustworthy and understandable health education.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547893" y="3819853"/>
            <a:ext cx="6200924" cy="4714457"/>
          </a:xfrm>
          <a:custGeom>
            <a:avLst/>
            <a:gdLst/>
            <a:ahLst/>
            <a:cxnLst/>
            <a:rect l="l" t="t" r="r" b="b"/>
            <a:pathLst>
              <a:path w="6200924" h="4714457">
                <a:moveTo>
                  <a:pt x="0" y="0"/>
                </a:moveTo>
                <a:lnTo>
                  <a:pt x="6200924" y="0"/>
                </a:lnTo>
                <a:lnTo>
                  <a:pt x="6200924" y="4714457"/>
                </a:lnTo>
                <a:lnTo>
                  <a:pt x="0" y="4714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04" r="-793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14476" y="1419444"/>
            <a:ext cx="9848470" cy="14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Can AI Help?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79793" y="3845361"/>
            <a:ext cx="6641429" cy="460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for Health Awareness - </a:t>
            </a:r>
          </a:p>
          <a:p>
            <a:pPr marL="518160" lvl="1" indent="-259080" algn="just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Simplification: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Converts complex health information into easier language.</a:t>
            </a:r>
          </a:p>
          <a:p>
            <a:pPr marL="518160" lvl="1" indent="-259080" algn="just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access: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communication in languages such as Hindi and English.</a:t>
            </a:r>
          </a:p>
          <a:p>
            <a:pPr marL="518160" lvl="1" indent="-259080" algn="just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discovery: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users locate credible health information.</a:t>
            </a:r>
          </a:p>
          <a:p>
            <a:pPr marL="518160" lvl="1" indent="-259080" algn="just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Claim assessment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Can support examination of health claims against reliable sources.</a:t>
            </a:r>
          </a:p>
          <a:p>
            <a:pPr marL="518160" lvl="1" indent="-259080" algn="just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Responsible use:</a:t>
            </a: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account for inaccurate outputs, bias and the need for human expertise.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47893" y="9157354"/>
            <a:ext cx="13516736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should complement existing healthcare services rather than replace them.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704846" y="3412733"/>
            <a:ext cx="6028084" cy="5658261"/>
          </a:xfrm>
          <a:custGeom>
            <a:avLst/>
            <a:gdLst/>
            <a:ahLst/>
            <a:cxnLst/>
            <a:rect l="l" t="t" r="r" b="b"/>
            <a:pathLst>
              <a:path w="6028084" h="5658261">
                <a:moveTo>
                  <a:pt x="0" y="0"/>
                </a:moveTo>
                <a:lnTo>
                  <a:pt x="6028084" y="0"/>
                </a:lnTo>
                <a:lnTo>
                  <a:pt x="6028084" y="5658261"/>
                </a:lnTo>
                <a:lnTo>
                  <a:pt x="0" y="5658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202" t="-450" r="-2323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34796" y="1258534"/>
            <a:ext cx="8217938" cy="94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5400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Aim &amp; Proposed Approach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67167" y="2621750"/>
            <a:ext cx="8046240" cy="693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Aim: </a:t>
            </a: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propose an AI-assisted approach to accessible health awareness and health-misinformation literacy in India.</a:t>
            </a:r>
          </a:p>
          <a:p>
            <a:pPr algn="l">
              <a:lnSpc>
                <a:spcPts val="3640"/>
              </a:lnSpc>
            </a:pPr>
            <a:r>
              <a:rPr lang="en-US" sz="26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- 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the accessibility and understandability of health information.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 verification of online health claims.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Hindi- and English-speaking users.</a:t>
            </a:r>
          </a:p>
          <a:p>
            <a:pPr marL="561344" lvl="1" indent="-280672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responsible AI use in community health education.</a:t>
            </a:r>
          </a:p>
          <a:p>
            <a:pPr algn="l">
              <a:lnSpc>
                <a:spcPts val="3640"/>
              </a:lnSpc>
            </a:pPr>
            <a:r>
              <a:rPr lang="en-US" sz="26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 - </a:t>
            </a:r>
          </a:p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Curated health resources + AI-assisted communication + clear source links + safety guidance.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76291" y="3401699"/>
            <a:ext cx="5255637" cy="6466832"/>
            <a:chOff x="0" y="0"/>
            <a:chExt cx="7007517" cy="86224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07517" cy="1420348"/>
            </a:xfrm>
            <a:custGeom>
              <a:avLst/>
              <a:gdLst/>
              <a:ahLst/>
              <a:cxnLst/>
              <a:rect l="l" t="t" r="r" b="b"/>
              <a:pathLst>
                <a:path w="7007517" h="1420348">
                  <a:moveTo>
                    <a:pt x="0" y="0"/>
                  </a:moveTo>
                  <a:lnTo>
                    <a:pt x="7007517" y="0"/>
                  </a:lnTo>
                  <a:lnTo>
                    <a:pt x="7007517" y="1420348"/>
                  </a:lnTo>
                  <a:lnTo>
                    <a:pt x="0" y="1420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733" r="-732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1420348"/>
              <a:ext cx="7007517" cy="7202095"/>
            </a:xfrm>
            <a:custGeom>
              <a:avLst/>
              <a:gdLst/>
              <a:ahLst/>
              <a:cxnLst/>
              <a:rect l="l" t="t" r="r" b="b"/>
              <a:pathLst>
                <a:path w="7007517" h="7202095">
                  <a:moveTo>
                    <a:pt x="0" y="0"/>
                  </a:moveTo>
                  <a:lnTo>
                    <a:pt x="7007517" y="0"/>
                  </a:lnTo>
                  <a:lnTo>
                    <a:pt x="7007517" y="7202095"/>
                  </a:lnTo>
                  <a:lnTo>
                    <a:pt x="0" y="7202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297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630344" y="1240750"/>
            <a:ext cx="14131364" cy="14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Introducing SwasthyaSathi 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30344" y="3535988"/>
            <a:ext cx="7509646" cy="6131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86"/>
              </a:lnSpc>
            </a:pP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SwasthyaSathi AI is a proposed mobile-friendly website designed to help users access and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rstand general health information.</a:t>
            </a:r>
          </a:p>
          <a:p>
            <a:pPr algn="just">
              <a:lnSpc>
                <a:spcPts val="4086"/>
              </a:lnSpc>
            </a:pP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iples - </a:t>
            </a:r>
          </a:p>
          <a:p>
            <a:pPr marL="630216" lvl="1" indent="-315108" algn="just">
              <a:lnSpc>
                <a:spcPts val="4086"/>
              </a:lnSpc>
              <a:buFont typeface="Arial"/>
              <a:buChar char="•"/>
            </a:pP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accessible health education.</a:t>
            </a:r>
          </a:p>
          <a:p>
            <a:pPr marL="630216" lvl="1" indent="-315108" algn="just">
              <a:lnSpc>
                <a:spcPts val="4086"/>
              </a:lnSpc>
              <a:buFont typeface="Arial"/>
              <a:buChar char="•"/>
            </a:pP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Hindi and Engli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languag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support.</a:t>
            </a:r>
          </a:p>
          <a:p>
            <a:pPr marL="630216" lvl="1" indent="-315108" algn="just">
              <a:lnSpc>
                <a:spcPts val="4086"/>
              </a:lnSpc>
              <a:buFont typeface="Arial"/>
              <a:buChar char="•"/>
            </a:pP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to trusted sources.</a:t>
            </a:r>
          </a:p>
          <a:p>
            <a:pPr marL="630216" lvl="1" indent="-315108" algn="just">
              <a:lnSpc>
                <a:spcPts val="4086"/>
              </a:lnSpc>
              <a:buFont typeface="Arial"/>
              <a:buChar char="•"/>
            </a:pP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sib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use with clear s</a:t>
            </a:r>
            <a:r>
              <a:rPr lang="en-US" sz="291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afety </a:t>
            </a: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boundaries.</a:t>
            </a:r>
          </a:p>
          <a:p>
            <a:pPr algn="just">
              <a:lnSpc>
                <a:spcPts val="4086"/>
              </a:lnSpc>
            </a:pPr>
            <a:r>
              <a:rPr lang="en-US" sz="29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 To help people make more informed decisions about health information without replacing qualified healthcare professionals.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30344" y="2663151"/>
            <a:ext cx="9902673" cy="50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Proposed Digital Health-Awareness Platform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419705" y="3485360"/>
            <a:ext cx="5259818" cy="5259818"/>
          </a:xfrm>
          <a:custGeom>
            <a:avLst/>
            <a:gdLst/>
            <a:ahLst/>
            <a:cxnLst/>
            <a:rect l="l" t="t" r="r" b="b"/>
            <a:pathLst>
              <a:path w="5259818" h="5259818">
                <a:moveTo>
                  <a:pt x="0" y="0"/>
                </a:moveTo>
                <a:lnTo>
                  <a:pt x="5259817" y="0"/>
                </a:lnTo>
                <a:lnTo>
                  <a:pt x="5259817" y="5259818"/>
                </a:lnTo>
                <a:lnTo>
                  <a:pt x="0" y="5259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14476" y="1419444"/>
            <a:ext cx="10764138" cy="14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10466" y="3680044"/>
            <a:ext cx="7128189" cy="481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sy-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-u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derstand general health information.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 to trusted health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esources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nten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 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everyday health awa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.Health Claim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Checke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feature 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 us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h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 claims.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US" sz="2499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guide users towards credible sources.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reliable source matching and further validation.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014476" y="1419444"/>
            <a:ext cx="13510990" cy="14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 Prototype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70851" y="3878570"/>
            <a:ext cx="10052656" cy="314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94"/>
              </a:lnSpc>
            </a:pPr>
            <a:r>
              <a:rPr lang="en-US" sz="35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Demonstration Topics - </a:t>
            </a:r>
          </a:p>
          <a:p>
            <a:pPr marL="770221" lvl="1" indent="-385110" algn="just">
              <a:lnSpc>
                <a:spcPts val="4994"/>
              </a:lnSpc>
              <a:buAutoNum type="arabicPeriod"/>
            </a:pPr>
            <a:r>
              <a:rPr lang="en-US" sz="35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Homepage and platform purpose.</a:t>
            </a:r>
          </a:p>
          <a:p>
            <a:pPr marL="770221" lvl="1" indent="-385110" algn="just">
              <a:lnSpc>
                <a:spcPts val="4994"/>
              </a:lnSpc>
              <a:buAutoNum type="arabicPeriod"/>
            </a:pPr>
            <a:r>
              <a:rPr lang="en-US" sz="35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Guide or one working information feature.</a:t>
            </a:r>
          </a:p>
          <a:p>
            <a:pPr marL="770221" lvl="1" indent="-385110" algn="just">
              <a:lnSpc>
                <a:spcPts val="4994"/>
              </a:lnSpc>
              <a:buAutoNum type="arabicPeriod"/>
            </a:pPr>
            <a:r>
              <a:rPr lang="en-US" sz="35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Trusted-source links and safety guidance.</a:t>
            </a:r>
          </a:p>
          <a:p>
            <a:pPr algn="just">
              <a:lnSpc>
                <a:spcPts val="4994"/>
              </a:lnSpc>
            </a:pPr>
            <a:endParaRPr lang="en-US" sz="3567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014476" y="7769406"/>
            <a:ext cx="12587748" cy="1128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318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note: This is a preliminary demonstration of the proposed concept, not a clinically validated health tool.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92663" y="3036490"/>
            <a:ext cx="9902673" cy="50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Proposed Digital Health-Awareness Platform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92663" y="6700159"/>
            <a:ext cx="12587748" cy="566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3182" u="sng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vermillion-kitsune-8dfa91.netlify.app"/>
              </a:rPr>
              <a:t>SwasthyaSathi</a:t>
            </a:r>
            <a:r>
              <a:rPr lang="en-US" sz="3182" u="sng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vermillion-kitsune-8dfa91.netlify.app"/>
              </a:rPr>
              <a:t> AI | Health Awareness For Everyone.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01683" y="3285976"/>
            <a:ext cx="11871841" cy="7001024"/>
            <a:chOff x="0" y="0"/>
            <a:chExt cx="3126740" cy="18438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6740" cy="1843891"/>
            </a:xfrm>
            <a:custGeom>
              <a:avLst/>
              <a:gdLst/>
              <a:ahLst/>
              <a:cxnLst/>
              <a:rect l="l" t="t" r="r" b="b"/>
              <a:pathLst>
                <a:path w="3126740" h="1843891">
                  <a:moveTo>
                    <a:pt x="0" y="0"/>
                  </a:moveTo>
                  <a:lnTo>
                    <a:pt x="3126740" y="0"/>
                  </a:lnTo>
                  <a:lnTo>
                    <a:pt x="3126740" y="1843891"/>
                  </a:lnTo>
                  <a:lnTo>
                    <a:pt x="0" y="1843891"/>
                  </a:lnTo>
                  <a:close/>
                </a:path>
              </a:pathLst>
            </a:custGeom>
            <a:solidFill>
              <a:srgbClr val="17320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26740" cy="1881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101382" y="4477049"/>
            <a:ext cx="5871596" cy="4618877"/>
          </a:xfrm>
          <a:custGeom>
            <a:avLst/>
            <a:gdLst/>
            <a:ahLst/>
            <a:cxnLst/>
            <a:rect l="l" t="t" r="r" b="b"/>
            <a:pathLst>
              <a:path w="5871596" h="4618877">
                <a:moveTo>
                  <a:pt x="0" y="0"/>
                </a:moveTo>
                <a:lnTo>
                  <a:pt x="5871597" y="0"/>
                </a:lnTo>
                <a:lnTo>
                  <a:pt x="5871597" y="4618878"/>
                </a:lnTo>
                <a:lnTo>
                  <a:pt x="0" y="461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47" r="-9455" b="-2180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014476" y="1428969"/>
            <a:ext cx="7215909" cy="271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</a:pPr>
            <a:r>
              <a:rPr lang="en-US" sz="7700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Impact for India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90223" y="4257694"/>
            <a:ext cx="7215909" cy="481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Supporting Community Health Awareness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literacy: Easier access to understandable health information.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Misinformation awareness: Encourages users to question and verify online claims.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accessibility: Supports information access in Hindi and English.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Informed communities: Encourages more responsible health-information sharing.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Viksit Bharat @2047: Contributes to the vision of inclusive, digitally enabled community well-being.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01683" y="3285976"/>
            <a:ext cx="11871841" cy="7001024"/>
            <a:chOff x="0" y="0"/>
            <a:chExt cx="3126740" cy="18438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6740" cy="1843891"/>
            </a:xfrm>
            <a:custGeom>
              <a:avLst/>
              <a:gdLst/>
              <a:ahLst/>
              <a:cxnLst/>
              <a:rect l="l" t="t" r="r" b="b"/>
              <a:pathLst>
                <a:path w="3126740" h="1843891">
                  <a:moveTo>
                    <a:pt x="0" y="0"/>
                  </a:moveTo>
                  <a:lnTo>
                    <a:pt x="3126740" y="0"/>
                  </a:lnTo>
                  <a:lnTo>
                    <a:pt x="3126740" y="1843891"/>
                  </a:lnTo>
                  <a:lnTo>
                    <a:pt x="0" y="1843891"/>
                  </a:lnTo>
                  <a:close/>
                </a:path>
              </a:pathLst>
            </a:custGeom>
            <a:solidFill>
              <a:srgbClr val="17320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26740" cy="1881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756072" y="3333757"/>
            <a:ext cx="4977363" cy="6953243"/>
          </a:xfrm>
          <a:custGeom>
            <a:avLst/>
            <a:gdLst/>
            <a:ahLst/>
            <a:cxnLst/>
            <a:rect l="l" t="t" r="r" b="b"/>
            <a:pathLst>
              <a:path w="4977363" h="6953243">
                <a:moveTo>
                  <a:pt x="0" y="0"/>
                </a:moveTo>
                <a:lnTo>
                  <a:pt x="4977364" y="0"/>
                </a:lnTo>
                <a:lnTo>
                  <a:pt x="4977364" y="6953243"/>
                </a:lnTo>
                <a:lnTo>
                  <a:pt x="0" y="6953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014476" y="1014165"/>
            <a:ext cx="7215909" cy="271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0"/>
              </a:lnSpc>
            </a:pPr>
            <a:r>
              <a:rPr lang="en-US" sz="7700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 &amp; Future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14476" y="3892729"/>
            <a:ext cx="7406803" cy="403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limitations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AI-generated information may be inaccurate or incomplete.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resources require regular review and updating.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accessibility does not guarantee equal understanding.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prototype requires systematic evaluation.</a:t>
            </a:r>
          </a:p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review of health content.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Indian-language support.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Privacy-conscious design and user feedback.</a:t>
            </a:r>
          </a:p>
          <a:p>
            <a:pPr marL="451751" lvl="1" indent="-225876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for accuracy, usability and misinformation-handling performance.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17976" y="8090109"/>
            <a:ext cx="8012409" cy="130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4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principle: The platform should educate and guide users towards reliable resources, not diagnose conditions or prescribe treatment.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6416159" y="3999545"/>
            <a:ext cx="11871841" cy="6287455"/>
            <a:chOff x="0" y="0"/>
            <a:chExt cx="3126740" cy="16559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26740" cy="1655955"/>
            </a:xfrm>
            <a:custGeom>
              <a:avLst/>
              <a:gdLst/>
              <a:ahLst/>
              <a:cxnLst/>
              <a:rect l="l" t="t" r="r" b="b"/>
              <a:pathLst>
                <a:path w="3126740" h="1655955">
                  <a:moveTo>
                    <a:pt x="0" y="0"/>
                  </a:moveTo>
                  <a:lnTo>
                    <a:pt x="3126740" y="0"/>
                  </a:lnTo>
                  <a:lnTo>
                    <a:pt x="3126740" y="1655955"/>
                  </a:lnTo>
                  <a:lnTo>
                    <a:pt x="0" y="1655955"/>
                  </a:lnTo>
                  <a:close/>
                </a:path>
              </a:pathLst>
            </a:custGeom>
            <a:solidFill>
              <a:srgbClr val="17320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26740" cy="1694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295877" y="3372267"/>
            <a:ext cx="6240564" cy="7081921"/>
          </a:xfrm>
          <a:custGeom>
            <a:avLst/>
            <a:gdLst/>
            <a:ahLst/>
            <a:cxnLst/>
            <a:rect l="l" t="t" r="r" b="b"/>
            <a:pathLst>
              <a:path w="6240564" h="7081921">
                <a:moveTo>
                  <a:pt x="0" y="0"/>
                </a:moveTo>
                <a:lnTo>
                  <a:pt x="6240564" y="0"/>
                </a:lnTo>
                <a:lnTo>
                  <a:pt x="6240564" y="7081921"/>
                </a:lnTo>
                <a:lnTo>
                  <a:pt x="0" y="7081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41" r="-6741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014476" y="1419444"/>
            <a:ext cx="7532209" cy="14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41017" y="3942395"/>
            <a:ext cx="6447040" cy="437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Information Access to Informed Awareness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offers opportunities to make health information more accessible.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sources and responsible design are essential.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SwasthyaSathi AI proposes a practical approach to health awareness and misinformation literacy.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development, expert review and evaluation are needed.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727841" cy="10287000"/>
            <a:chOff x="0" y="0"/>
            <a:chExt cx="7184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8444" cy="2709333"/>
            </a:xfrm>
            <a:custGeom>
              <a:avLst/>
              <a:gdLst/>
              <a:ahLst/>
              <a:cxnLst/>
              <a:rect l="l" t="t" r="r" b="b"/>
              <a:pathLst>
                <a:path w="718444" h="2709333">
                  <a:moveTo>
                    <a:pt x="0" y="0"/>
                  </a:moveTo>
                  <a:lnTo>
                    <a:pt x="718444" y="0"/>
                  </a:lnTo>
                  <a:lnTo>
                    <a:pt x="71844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84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68229" y="7200900"/>
            <a:ext cx="1386959" cy="3253288"/>
            <a:chOff x="0" y="0"/>
            <a:chExt cx="365290" cy="856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5290" cy="856833"/>
            </a:xfrm>
            <a:custGeom>
              <a:avLst/>
              <a:gdLst/>
              <a:ahLst/>
              <a:cxnLst/>
              <a:rect l="l" t="t" r="r" b="b"/>
              <a:pathLst>
                <a:path w="365290" h="856833">
                  <a:moveTo>
                    <a:pt x="0" y="0"/>
                  </a:moveTo>
                  <a:lnTo>
                    <a:pt x="365290" y="0"/>
                  </a:lnTo>
                  <a:lnTo>
                    <a:pt x="365290" y="856833"/>
                  </a:lnTo>
                  <a:lnTo>
                    <a:pt x="0" y="856833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5290" cy="894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4014476" y="770811"/>
            <a:ext cx="14273524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4014476" y="5531912"/>
            <a:ext cx="1030161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4014476" y="7157412"/>
            <a:ext cx="1030161" cy="0"/>
          </a:xfrm>
          <a:prstGeom prst="line">
            <a:avLst/>
          </a:prstGeom>
          <a:ln w="38100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4014476" y="2623545"/>
            <a:ext cx="12470104" cy="227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14476" y="5808722"/>
            <a:ext cx="13053752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“AI should not replace medical expertise; it should help people find, understand and question health information responsibly.”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14476" y="7433637"/>
            <a:ext cx="224675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013844"/>
            <a:ext cx="88654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7320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61226" y="7433637"/>
            <a:ext cx="224675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Ishita Singh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775</Words>
  <Application>Microsoft Office PowerPoint</Application>
  <PresentationFormat>Custom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Times New Roman Italics</vt:lpstr>
      <vt:lpstr>Calibri</vt:lpstr>
      <vt:lpstr>Times New Roman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Minimalist Presentation</dc:title>
  <dc:creator>ISHITA SINGH</dc:creator>
  <cp:lastModifiedBy>ISHITA SINGH</cp:lastModifiedBy>
  <cp:revision>1</cp:revision>
  <dcterms:created xsi:type="dcterms:W3CDTF">2006-08-16T00:00:00Z</dcterms:created>
  <dcterms:modified xsi:type="dcterms:W3CDTF">2026-10-25T16:03:01Z</dcterms:modified>
  <dc:identifier>DAHZAz9omxo</dc:identifier>
</cp:coreProperties>
</file>